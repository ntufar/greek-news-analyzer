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744"/>
          </a:solidFill>
          <a:ln w="12700">
            <a:solidFill>
              <a:srgbClr val="16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39312" y="0"/>
            <a:ext cx="64008" cy="51435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560320"/>
          </a:xfrm>
          <a:prstGeom prst="ellipse">
            <a:avLst/>
          </a:prstGeom>
          <a:solidFill>
            <a:srgbClr val="162744"/>
          </a:solidFill>
          <a:ln w="12700">
            <a:solidFill>
              <a:srgbClr val="0288D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920240" cy="1920240"/>
          </a:xfrm>
          <a:prstGeom prst="ellipse">
            <a:avLst/>
          </a:prstGeom>
          <a:solidFill>
            <a:srgbClr val="162744"/>
          </a:solidFill>
          <a:ln w="12700">
            <a:solidFill>
              <a:srgbClr val="0288D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1280160" cy="1280160"/>
          </a:xfrm>
          <a:prstGeom prst="ellipse">
            <a:avLst/>
          </a:prstGeom>
          <a:solidFill>
            <a:srgbClr val="162744"/>
          </a:solidFill>
          <a:ln w="12700">
            <a:solidFill>
              <a:srgbClr val="0288D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2057400"/>
            <a:ext cx="640080" cy="640080"/>
          </a:xfrm>
          <a:prstGeom prst="ellipse">
            <a:avLst/>
          </a:prstGeom>
          <a:solidFill>
            <a:srgbClr val="0288D1">
              <a:alpha val="60000"/>
            </a:srgbClr>
          </a:solidFill>
          <a:ln w="254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502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ΕΠΑΠ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Ελληνική Πλατφόρμα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Ανάλυσης Παραπληροφόρισης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“Ανιχνεύουμε την παραπληροφόρηση.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Προστατεύουμε την αλήθεια.”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 Challenge  ·  BEYOND 2026  ·  18 Ιουνίου 2026  ·  ΕΒΕΑ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Το Πρόβλημα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2377440"/>
          </a:xfrm>
          <a:prstGeom prst="rect">
            <a:avLst/>
          </a:prstGeom>
          <a:solidFill>
            <a:srgbClr val="162744"/>
          </a:solidFill>
          <a:ln w="25400">
            <a:solidFill>
              <a:srgbClr val="C628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των Ελλήνων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δήλωσαν ότι συνάντησαν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ψευδείς ειδήσεις online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005840"/>
            <a:ext cx="2560320" cy="2377440"/>
          </a:xfrm>
          <a:prstGeom prst="rect">
            <a:avLst/>
          </a:prstGeom>
          <a:solidFill>
            <a:srgbClr val="162744"/>
          </a:solidFill>
          <a:ln w="2540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56032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πιο γρήγορα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εξαπλώνεται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παραπληροφόρηση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2560320" cy="2377440"/>
          </a:xfrm>
          <a:prstGeom prst="rect">
            <a:avLst/>
          </a:prstGeom>
          <a:solidFill>
            <a:srgbClr val="162744"/>
          </a:solidFill>
          <a:ln w="25400">
            <a:solidFill>
              <a:srgbClr val="0288D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256032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28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αδυνατεί να διακρίνει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αλήθεια από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παραπληροφόρηση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παραπληροφόρηση απειλεί τη δημοκρατία, επηρεάζει εκλογές και δημόσια υγεία.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Πηγές: Reuters Institute Digital News Report 2024  ·  Eurobarometer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Λύση: ΕΠΑΠ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πλατφόρμα Τεχνητής Νοημοσύνης που αναλύει άρθρα και ιστοσελίδες σε πραγματικό χρόνο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βαθμολογεί το επίπεδο παραπληροφόρησης — δίνοντας στον χρήστη αντικειμενική εικόνα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μοιραστεί ή πιστέψει οποιοδήποτε περιεχόμενο.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256032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2423160"/>
            <a:ext cx="2560320" cy="2011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2697480"/>
            <a:ext cx="640080" cy="640080"/>
          </a:xfrm>
          <a:prstGeom prst="ellipse">
            <a:avLst/>
          </a:prstGeom>
          <a:solidFill>
            <a:srgbClr val="0288D1">
              <a:alpha val="20000"/>
            </a:srgbClr>
          </a:solidFill>
          <a:ln w="1905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 Άρθρων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Εντοπίζει bias, χειριστικό λόγο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αναλήθειες σε κάθε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δημοσίευση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423160"/>
            <a:ext cx="256032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2423160"/>
            <a:ext cx="256032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2697480"/>
            <a:ext cx="640080" cy="640080"/>
          </a:xfrm>
          <a:prstGeom prst="ellipse">
            <a:avLst/>
          </a:prstGeom>
          <a:solidFill>
            <a:srgbClr val="1565C0">
              <a:alpha val="20000"/>
            </a:srgbClr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 Πηγών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Βαθμολογεί ολόκληρες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ιστοσελίδες βάσει ιστορικού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αξιοπιστίας εκδοτών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423160"/>
            <a:ext cx="256032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37960" y="2423160"/>
            <a:ext cx="2560320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697480"/>
            <a:ext cx="640080" cy="640080"/>
          </a:xfrm>
          <a:prstGeom prst="ellipse">
            <a:avLst/>
          </a:prstGeom>
          <a:solidFill>
            <a:srgbClr val="6A1B9A">
              <a:alpha val="20000"/>
            </a:srgbClr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Βαθμός Παραπληρ/σης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Διαβαθμισμένη κλίμακα 0–100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πλήρη αιτιολόγηση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βαθμολογίας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Πώς Λειτουργεί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7220" y="1005840"/>
            <a:ext cx="594360" cy="59436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72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57300" y="1298448"/>
            <a:ext cx="1143000" cy="0"/>
          </a:xfrm>
          <a:prstGeom prst="line">
            <a:avLst/>
          </a:prstGeom>
          <a:noFill/>
          <a:ln w="19050">
            <a:solidFill>
              <a:srgbClr val="C0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" y="1828800"/>
            <a:ext cx="1554480" cy="2331720"/>
          </a:xfrm>
          <a:prstGeom prst="rect">
            <a:avLst/>
          </a:prstGeom>
          <a:solidFill>
            <a:srgbClr val="F2F6FA"/>
          </a:solidFill>
          <a:ln w="19050">
            <a:solidFill>
              <a:srgbClr val="0288D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1828800"/>
            <a:ext cx="1554480" cy="2011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5420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ή κείμενο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άρθρου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6020" y="100584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60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86100" y="1298448"/>
            <a:ext cx="1143000" cy="0"/>
          </a:xfrm>
          <a:prstGeom prst="line">
            <a:avLst/>
          </a:prstGeom>
          <a:noFill/>
          <a:ln w="19050">
            <a:solidFill>
              <a:srgbClr val="C0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65960" y="1828800"/>
            <a:ext cx="1554480" cy="2331720"/>
          </a:xfrm>
          <a:prstGeom prst="rect">
            <a:avLst/>
          </a:prstGeom>
          <a:solidFill>
            <a:srgbClr val="F2F6FA"/>
          </a:solidFill>
          <a:ln w="1905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65960" y="1828800"/>
            <a:ext cx="15544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574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Ανάκτηση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5420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Λήψη &amp; parsing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περιεχομένου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74820" y="1005840"/>
            <a:ext cx="594360" cy="5943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748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914900" y="1298448"/>
            <a:ext cx="1143000" cy="0"/>
          </a:xfrm>
          <a:prstGeom prst="line">
            <a:avLst/>
          </a:prstGeom>
          <a:noFill/>
          <a:ln w="19050">
            <a:solidFill>
              <a:srgbClr val="C0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94760" y="1828800"/>
            <a:ext cx="1554480" cy="2331720"/>
          </a:xfrm>
          <a:prstGeom prst="rect">
            <a:avLst/>
          </a:prstGeom>
          <a:solidFill>
            <a:srgbClr val="F2F6FA"/>
          </a:solidFill>
          <a:ln w="19050">
            <a:solidFill>
              <a:srgbClr val="6A1B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94760" y="1828800"/>
            <a:ext cx="1554480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862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Ανάλυση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86200" y="25420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3620" y="1005840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36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43700" y="1298448"/>
            <a:ext cx="1143000" cy="0"/>
          </a:xfrm>
          <a:prstGeom prst="line">
            <a:avLst/>
          </a:prstGeom>
          <a:noFill/>
          <a:ln w="19050">
            <a:solidFill>
              <a:srgbClr val="C0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23560" y="1828800"/>
            <a:ext cx="1554480" cy="2331720"/>
          </a:xfrm>
          <a:prstGeom prst="rect">
            <a:avLst/>
          </a:prstGeom>
          <a:solidFill>
            <a:srgbClr val="F2F6FA"/>
          </a:solidFill>
          <a:ln w="1905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23560" y="1828800"/>
            <a:ext cx="155448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Βαθμολόγηση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25420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δείκτη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0–100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32420" y="10058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324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452360" y="1828800"/>
            <a:ext cx="1554480" cy="2331720"/>
          </a:xfrm>
          <a:prstGeom prst="rect">
            <a:avLst/>
          </a:prstGeom>
          <a:solidFill>
            <a:srgbClr val="F2F6FA"/>
          </a:solidFill>
          <a:ln w="1905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52360" y="1828800"/>
            <a:ext cx="155448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438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Αποτέλεσμα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43800" y="25420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Αναφορά με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εξηγήσεις AI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Μέσος χρόνος ανάλυσης: &lt; 5 δευτερόλεπτα ανά άρθρο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Τεχνολογία &amp; Τεχνητή Νοημοσύνη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04672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023360" cy="1828800"/>
          </a:xfrm>
          <a:prstGeom prst="rect">
            <a:avLst/>
          </a:prstGeom>
          <a:solidFill>
            <a:srgbClr val="162744"/>
          </a:solidFill>
          <a:ln w="19050">
            <a:solidFill>
              <a:srgbClr val="0288D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" cy="1828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Φυσικής Γλώσσας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Εξειδίκευση στα Ελληνικά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χειριστικού λόγου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15798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 συναισθήματος &amp; τόνου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841248"/>
            <a:ext cx="4023360" cy="1828800"/>
          </a:xfrm>
          <a:prstGeom prst="rect">
            <a:avLst/>
          </a:prstGeom>
          <a:solidFill>
            <a:srgbClr val="162744"/>
          </a:solidFill>
          <a:ln w="1905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841248"/>
            <a:ext cx="82296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93208" y="9509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Μηχανική Μάθηση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93208" y="14630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μοντέλα (BERT + XGBoost)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93208" y="18105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Συνεχής επανεκπαίδευση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93208" y="215798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για διαφάνεια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4023360" cy="1828800"/>
          </a:xfrm>
          <a:prstGeom prst="rect">
            <a:avLst/>
          </a:prstGeom>
          <a:solidFill>
            <a:srgbClr val="162744"/>
          </a:solidFill>
          <a:ln w="19050">
            <a:solidFill>
              <a:srgbClr val="6A1B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82296" cy="1828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2962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Γράφος Γνώσης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4747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αξιόπιστων πηγών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822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fact-checking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1696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Ιστορικό αξιοπιστίας εκδοτών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852928"/>
            <a:ext cx="4023360" cy="1828800"/>
          </a:xfrm>
          <a:prstGeom prst="rect">
            <a:avLst/>
          </a:prstGeom>
          <a:solidFill>
            <a:srgbClr val="162744"/>
          </a:solidFill>
          <a:ln w="1905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2852928"/>
            <a:ext cx="82296" cy="1828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93208" y="2962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93208" y="34747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&amp; parsing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93208" y="3822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3208" y="41696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για τρίτες εφαρμογές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Εφαρμογή σε Δράση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12064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928116"/>
            <a:ext cx="137160" cy="137160"/>
          </a:xfrm>
          <a:prstGeom prst="ellipse">
            <a:avLst/>
          </a:prstGeom>
          <a:solidFill>
            <a:srgbClr val="ED6455"/>
          </a:solidFill>
          <a:ln w="12700">
            <a:solidFill>
              <a:srgbClr val="ED6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0936" y="928116"/>
            <a:ext cx="137160" cy="137160"/>
          </a:xfrm>
          <a:prstGeom prst="ellipse">
            <a:avLst/>
          </a:prstGeom>
          <a:solidFill>
            <a:srgbClr val="F5BE4E"/>
          </a:solidFill>
          <a:ln w="12700">
            <a:solidFill>
              <a:srgbClr val="F5B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" y="928116"/>
            <a:ext cx="137160" cy="13716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877824"/>
            <a:ext cx="42976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8778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https://epap.gr/analyze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" y="1280160"/>
            <a:ext cx="47914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https://www.news-example.gr/article/propaganda-test-2026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298448"/>
            <a:ext cx="804672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29844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175564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Αποτέλεσμα Ανάλυσης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103120"/>
            <a:ext cx="167701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1642" y="2103120"/>
            <a:ext cx="1437437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99078" y="2103120"/>
            <a:ext cx="167701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97904" y="2011680"/>
            <a:ext cx="64008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235915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Βαθμός: 72 / 100  —  Υψηλός Κίνδυνος Παραπληροφόρησης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2743200"/>
            <a:ext cx="237744" cy="237744"/>
          </a:xfrm>
          <a:prstGeom prst="rect">
            <a:avLst/>
          </a:prstGeom>
          <a:solidFill>
            <a:srgbClr val="C62828">
              <a:alpha val="22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" y="2743200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Παραπλανητικός τίτλος σε σχέση με το περιεχόμενο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" y="3099816"/>
            <a:ext cx="237744" cy="237744"/>
          </a:xfrm>
          <a:prstGeom prst="rect">
            <a:avLst/>
          </a:prstGeom>
          <a:solidFill>
            <a:srgbClr val="C62828">
              <a:alpha val="22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" y="3099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30998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Ελλιπής παρουσίαση γεγονότων — μονοπλεύρως φορτισμένη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3456432"/>
            <a:ext cx="237744" cy="237744"/>
          </a:xfrm>
          <a:prstGeom prst="rect">
            <a:avLst/>
          </a:prstGeom>
          <a:solidFill>
            <a:srgbClr val="C62828">
              <a:alpha val="22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345643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Συναισθηματικά χειριστική γλώσσα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822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Δείκτης Παραπληροφόρησης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1325880"/>
            <a:ext cx="2011680" cy="2011680"/>
          </a:xfrm>
          <a:prstGeom prst="ellipse">
            <a:avLst/>
          </a:prstGeom>
          <a:solidFill>
            <a:srgbClr val="C62828">
              <a:alpha val="12000"/>
            </a:srgbClr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1371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5800" dirty="0"/>
          </a:p>
        </p:txBody>
      </p:sp>
      <p:sp>
        <p:nvSpPr>
          <p:cNvPr id="32" name="Text 30"/>
          <p:cNvSpPr/>
          <p:nvPr/>
        </p:nvSpPr>
        <p:spPr>
          <a:xfrm>
            <a:off x="626364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0" y="3429000"/>
            <a:ext cx="246888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07608" y="342900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0–34   Αξιόπιστο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246888" cy="2468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07608" y="37947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35–64  Ύποπτο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4160520"/>
            <a:ext cx="246888" cy="2468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07608" y="41605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65–100 Παραπληροφόρηση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Αγορά &amp; Χρήστες-Στόχος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82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Πολίτες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Ενεργός έλεγχος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ειδήσεων πριν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κοινοποίηση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0288D1">
              <a:alpha val="17000"/>
            </a:srgbClr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 Έλληνες online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02336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1307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Δημοσιογράφοι / ΜΜΕ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Εργαλείο fact-checking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ειδησεογραφικούς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οργανισμούς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169164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1565C0">
              <a:alpha val="17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επαγγελματίες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023360" cy="1828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227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Κριτική σκέψη &amp;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literacy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σχολεία &amp; ΑΕΙ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3611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6A1B9A">
              <a:alpha val="17000"/>
            </a:srgbClr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0" y="3611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4.5K ιδρύματα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971800"/>
            <a:ext cx="4023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02336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65192" y="3227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Δημόσιος Τομέας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65192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Παρακολούθηση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παραπληροφόρησης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φορείς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3611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E65100">
              <a:alpha val="17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60920" y="3611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Υπουργεία / ΟΤΑ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2026–2027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03020" y="1719072"/>
            <a:ext cx="5815584" cy="0"/>
          </a:xfrm>
          <a:prstGeom prst="line">
            <a:avLst/>
          </a:prstGeom>
          <a:noFill/>
          <a:ln w="25400">
            <a:solidFill>
              <a:srgbClr val="C5C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6988" y="1591056"/>
            <a:ext cx="512064" cy="512064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6988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426464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264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ΤΩΡΑ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6916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691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591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 launch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Επέκταση training corpus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85516" y="1591056"/>
            <a:ext cx="512064" cy="512064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04288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95728" y="1920240"/>
            <a:ext cx="16916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95728" y="1920240"/>
            <a:ext cx="16916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95728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87168" y="23591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87168" y="28163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χρήστες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87168" y="32735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Συνεργασίες ΜΜΕ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24044" y="1591056"/>
            <a:ext cx="512064" cy="512064"/>
          </a:xfrm>
          <a:prstGeom prst="ellipse">
            <a:avLst/>
          </a:prstGeom>
          <a:solidFill>
            <a:srgbClr val="6A1B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42816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34256" y="1920240"/>
            <a:ext cx="16916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34256" y="1920240"/>
            <a:ext cx="16916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34256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Pilot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25696" y="23591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Πιλοτικό Υπουργείου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25696" y="28163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υποστήριξη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25696" y="32735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χρήστες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62572" y="1591056"/>
            <a:ext cx="512064" cy="512064"/>
          </a:xfrm>
          <a:prstGeom prst="ellipse">
            <a:avLst/>
          </a:prstGeom>
          <a:solidFill>
            <a:srgbClr val="E651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1920240"/>
            <a:ext cx="16916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72784" y="1920240"/>
            <a:ext cx="16916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2784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64224" y="23591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αγορά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64224" y="28163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Σειρά Α funding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64224" y="327355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αυτοματισμός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Macintosh PowerPoint</Application>
  <PresentationFormat>On-screen Show (16:9)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ΕΠΑΠ – Ελληνική Πλατφόρμα Ανάλυσης Παραπληροφόρισης</dc:title>
  <dc:subject>PptxGenJS Presentation</dc:subject>
  <dc:creator>ΕΠΑΠ Team</dc:creator>
  <cp:lastModifiedBy>Nicolai Tufar</cp:lastModifiedBy>
  <cp:revision>3</cp:revision>
  <dcterms:created xsi:type="dcterms:W3CDTF">2026-05-25T19:13:03Z</dcterms:created>
  <dcterms:modified xsi:type="dcterms:W3CDTF">2026-05-31T16:30:50Z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f34ead-50a3-4950-8a39-fca3a33c48cb_Enabled">
    <vt:lpwstr>true</vt:lpwstr>
  </property>
  <property fmtid="{D5CDD505-2E9C-101B-9397-08002B2CF9AE}" pid="3" name="MSIP_Label_b1f34ead-50a3-4950-8a39-fca3a33c48cb_SetDate">
    <vt:lpwstr>2026-05-25T19:47:33Z</vt:lpwstr>
  </property>
  <property fmtid="{D5CDD505-2E9C-101B-9397-08002B2CF9AE}" pid="4" name="MSIP_Label_b1f34ead-50a3-4950-8a39-fca3a33c48cb_Method">
    <vt:lpwstr>Standard</vt:lpwstr>
  </property>
  <property fmtid="{D5CDD505-2E9C-101B-9397-08002B2CF9AE}" pid="5" name="MSIP_Label_b1f34ead-50a3-4950-8a39-fca3a33c48cb_Name">
    <vt:lpwstr>Confidential</vt:lpwstr>
  </property>
  <property fmtid="{D5CDD505-2E9C-101B-9397-08002B2CF9AE}" pid="6" name="MSIP_Label_b1f34ead-50a3-4950-8a39-fca3a33c48cb_SiteId">
    <vt:lpwstr>0c5638da-d686-4d6a-8df4-e0552c70cb17</vt:lpwstr>
  </property>
  <property fmtid="{D5CDD505-2E9C-101B-9397-08002B2CF9AE}" pid="7" name="MSIP_Label_b1f34ead-50a3-4950-8a39-fca3a33c48cb_ActionId">
    <vt:lpwstr>4d3ac2d7-5873-42b4-9b53-3dd6f29f17fa</vt:lpwstr>
  </property>
  <property fmtid="{D5CDD505-2E9C-101B-9397-08002B2CF9AE}" pid="8" name="MSIP_Label_b1f34ead-50a3-4950-8a39-fca3a33c48cb_ContentBits">
    <vt:lpwstr>0</vt:lpwstr>
  </property>
  <property fmtid="{D5CDD505-2E9C-101B-9397-08002B2CF9AE}" pid="9" name="MSIP_Label_b1f34ead-50a3-4950-8a39-fca3a33c48cb_Tag">
    <vt:lpwstr>50, 3, 0, 1</vt:lpwstr>
  </property>
  <property fmtid="{D5CDD505-2E9C-101B-9397-08002B2CF9AE}" pid="10" name="MSIP_Label_2a535040-0af2-483f-adc3-a132c21e3e2b_Enabled">
    <vt:lpwstr>true</vt:lpwstr>
  </property>
  <property fmtid="{D5CDD505-2E9C-101B-9397-08002B2CF9AE}" pid="11" name="MSIP_Label_2a535040-0af2-483f-adc3-a132c21e3e2b_SetDate">
    <vt:lpwstr>2026-05-31T16:30:50Z</vt:lpwstr>
  </property>
  <property fmtid="{D5CDD505-2E9C-101B-9397-08002B2CF9AE}" pid="12" name="MSIP_Label_2a535040-0af2-483f-adc3-a132c21e3e2b_Method">
    <vt:lpwstr>Standard</vt:lpwstr>
  </property>
  <property fmtid="{D5CDD505-2E9C-101B-9397-08002B2CF9AE}" pid="13" name="MSIP_Label_2a535040-0af2-483f-adc3-a132c21e3e2b_Name">
    <vt:lpwstr>EPAM_Confidential</vt:lpwstr>
  </property>
  <property fmtid="{D5CDD505-2E9C-101B-9397-08002B2CF9AE}" pid="14" name="MSIP_Label_2a535040-0af2-483f-adc3-a132c21e3e2b_SiteId">
    <vt:lpwstr>b41b72d0-4e9f-4c26-8a69-f949f367c91d</vt:lpwstr>
  </property>
  <property fmtid="{D5CDD505-2E9C-101B-9397-08002B2CF9AE}" pid="15" name="MSIP_Label_2a535040-0af2-483f-adc3-a132c21e3e2b_ActionId">
    <vt:lpwstr>2d0af671-0aed-4c57-9eb9-e6bd0c034798</vt:lpwstr>
  </property>
  <property fmtid="{D5CDD505-2E9C-101B-9397-08002B2CF9AE}" pid="16" name="MSIP_Label_2a535040-0af2-483f-adc3-a132c21e3e2b_ContentBits">
    <vt:lpwstr>0</vt:lpwstr>
  </property>
  <property fmtid="{D5CDD505-2E9C-101B-9397-08002B2CF9AE}" pid="17" name="MSIP_Label_2a535040-0af2-483f-adc3-a132c21e3e2b_Tag">
    <vt:lpwstr>50, 3, 0, 1</vt:lpwstr>
  </property>
</Properties>
</file>